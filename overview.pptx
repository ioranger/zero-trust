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1F5"/>
    <a:srgbClr val="FBEDE1"/>
    <a:srgbClr val="FBEFE1"/>
    <a:srgbClr val="FFFFFF"/>
    <a:srgbClr val="FFA500"/>
    <a:srgbClr val="808080"/>
    <a:srgbClr val="FFFFE0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7860129" y="534853"/>
            <a:ext cx="4272324" cy="632038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5593" y="537611"/>
            <a:ext cx="4064561" cy="6314871"/>
          </a:xfrm>
          <a:prstGeom prst="rect">
            <a:avLst/>
          </a:prstGeom>
          <a:solidFill>
            <a:srgbClr val="FBEDE1"/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4087781" y="537612"/>
            <a:ext cx="3793475" cy="6320388"/>
          </a:xfrm>
          <a:prstGeom prst="rect">
            <a:avLst/>
          </a:prstGeom>
          <a:solidFill>
            <a:srgbClr val="E6F1F5"/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/>
          <p:cNvCxnSpPr/>
          <p:nvPr/>
        </p:nvCxnSpPr>
        <p:spPr>
          <a:xfrm flipH="1">
            <a:off x="45593" y="3134916"/>
            <a:ext cx="7714324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7890548" y="510922"/>
            <a:ext cx="0" cy="6395325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36" y="991513"/>
            <a:ext cx="442495" cy="442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 flipV="1">
            <a:off x="4080342" y="510922"/>
            <a:ext cx="32165" cy="6347078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06" y="1398882"/>
            <a:ext cx="658712" cy="65871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44394">
            <a:off x="435871" y="1199724"/>
            <a:ext cx="468565" cy="46856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77" y="2168546"/>
            <a:ext cx="442495" cy="44249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92081">
            <a:off x="451919" y="1824410"/>
            <a:ext cx="485300" cy="4853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00129">
            <a:off x="1433770" y="1221847"/>
            <a:ext cx="468565" cy="46856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00502">
            <a:off x="1389087" y="1808479"/>
            <a:ext cx="468565" cy="46856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057" y="946924"/>
            <a:ext cx="442495" cy="44249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91" y="2217417"/>
            <a:ext cx="344626" cy="344626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1290646" y="156287"/>
            <a:ext cx="166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UAV Network 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488318" y="2512573"/>
            <a:ext cx="941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Anomalies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45593" y="537612"/>
            <a:ext cx="119928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315059" y="676816"/>
            <a:ext cx="1622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UAV Swarm Access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等腰三角形 51"/>
          <p:cNvSpPr/>
          <p:nvPr/>
        </p:nvSpPr>
        <p:spPr>
          <a:xfrm rot="5400000">
            <a:off x="2164469" y="1529441"/>
            <a:ext cx="505104" cy="358480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041" y="1424497"/>
            <a:ext cx="583878" cy="583878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56" name="文本框 55"/>
          <p:cNvSpPr txBox="1"/>
          <p:nvPr/>
        </p:nvSpPr>
        <p:spPr>
          <a:xfrm>
            <a:off x="2348011" y="2104396"/>
            <a:ext cx="1834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Summarization Agent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 flipV="1">
            <a:off x="4096601" y="1441505"/>
            <a:ext cx="437627" cy="2749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4096424" y="1716436"/>
            <a:ext cx="437982" cy="252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流程图: 接点 76"/>
          <p:cNvSpPr/>
          <p:nvPr/>
        </p:nvSpPr>
        <p:spPr>
          <a:xfrm>
            <a:off x="4604086" y="1030937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直接连接符 80"/>
          <p:cNvCxnSpPr>
            <a:stCxn id="55" idx="3"/>
          </p:cNvCxnSpPr>
          <p:nvPr/>
        </p:nvCxnSpPr>
        <p:spPr>
          <a:xfrm>
            <a:off x="3378919" y="1716436"/>
            <a:ext cx="7464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V="1">
            <a:off x="5180994" y="1205984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V="1">
            <a:off x="5180995" y="2214877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4388582" y="-47336"/>
            <a:ext cx="3191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Multi-factor Trust Evaluation Mechanism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流程图: 接点 87"/>
          <p:cNvSpPr/>
          <p:nvPr/>
        </p:nvSpPr>
        <p:spPr>
          <a:xfrm>
            <a:off x="4588091" y="1999317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269979" y="709277"/>
            <a:ext cx="1359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Trust Branches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1" name="图形 90" descr="计算机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950" y="3561217"/>
            <a:ext cx="914400" cy="914400"/>
          </a:xfrm>
          <a:prstGeom prst="rect">
            <a:avLst/>
          </a:prstGeom>
        </p:spPr>
      </p:pic>
      <p:pic>
        <p:nvPicPr>
          <p:cNvPr id="93" name="图形 92" descr="数据库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137" y="4497686"/>
            <a:ext cx="914400" cy="914400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981" y="1252239"/>
            <a:ext cx="313054" cy="313054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521" y="2262834"/>
            <a:ext cx="313054" cy="313054"/>
          </a:xfrm>
          <a:prstGeom prst="rect">
            <a:avLst/>
          </a:prstGeom>
        </p:spPr>
      </p:pic>
      <p:sp>
        <p:nvSpPr>
          <p:cNvPr id="97" name="文本框 96"/>
          <p:cNvSpPr txBox="1"/>
          <p:nvPr/>
        </p:nvSpPr>
        <p:spPr>
          <a:xfrm>
            <a:off x="5177826" y="1532071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187977" y="2544787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流程图: 资料带 98"/>
          <p:cNvSpPr/>
          <p:nvPr/>
        </p:nvSpPr>
        <p:spPr>
          <a:xfrm>
            <a:off x="5909360" y="778047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流程图: 资料带 101"/>
          <p:cNvSpPr/>
          <p:nvPr/>
        </p:nvSpPr>
        <p:spPr>
          <a:xfrm>
            <a:off x="6044983" y="855843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流程图: 资料带 102"/>
          <p:cNvSpPr/>
          <p:nvPr/>
        </p:nvSpPr>
        <p:spPr>
          <a:xfrm>
            <a:off x="6208071" y="913115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From T1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6317" y="2886663"/>
            <a:ext cx="579170" cy="57917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14" name="流程图: 资料带 113"/>
          <p:cNvSpPr/>
          <p:nvPr/>
        </p:nvSpPr>
        <p:spPr>
          <a:xfrm>
            <a:off x="5909360" y="1945248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流程图: 资料带 114"/>
          <p:cNvSpPr/>
          <p:nvPr/>
        </p:nvSpPr>
        <p:spPr>
          <a:xfrm>
            <a:off x="6044983" y="2023044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流程图: 资料带 115"/>
          <p:cNvSpPr/>
          <p:nvPr/>
        </p:nvSpPr>
        <p:spPr>
          <a:xfrm>
            <a:off x="6208071" y="2080316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0" algn="ctr">
              <a:defRPr/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From T2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endParaRPr lang="zh-CN" altLang="en-US" dirty="0"/>
          </a:p>
        </p:txBody>
      </p:sp>
      <p:pic>
        <p:nvPicPr>
          <p:cNvPr id="118" name="图形 117" descr="研究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6131" y="4554837"/>
            <a:ext cx="796421" cy="796421"/>
          </a:xfrm>
          <a:prstGeom prst="rect">
            <a:avLst/>
          </a:prstGeom>
        </p:spPr>
      </p:pic>
      <p:sp>
        <p:nvSpPr>
          <p:cNvPr id="119" name="文本框 118"/>
          <p:cNvSpPr txBox="1"/>
          <p:nvPr/>
        </p:nvSpPr>
        <p:spPr>
          <a:xfrm>
            <a:off x="100971" y="3316618"/>
            <a:ext cx="2379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Inter-ground Control Access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等腰三角形 119"/>
          <p:cNvSpPr/>
          <p:nvPr/>
        </p:nvSpPr>
        <p:spPr>
          <a:xfrm rot="5400000">
            <a:off x="2164469" y="4237026"/>
            <a:ext cx="505104" cy="358480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041" y="4124327"/>
            <a:ext cx="583878" cy="583878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2" name="文本框 121"/>
          <p:cNvSpPr txBox="1"/>
          <p:nvPr/>
        </p:nvSpPr>
        <p:spPr>
          <a:xfrm>
            <a:off x="2344951" y="4814977"/>
            <a:ext cx="1834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Summarization Agent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62166" y="5341923"/>
            <a:ext cx="941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405732" y="5341922"/>
            <a:ext cx="664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5" name="直接箭头连接符 124"/>
          <p:cNvCxnSpPr/>
          <p:nvPr/>
        </p:nvCxnSpPr>
        <p:spPr>
          <a:xfrm flipV="1">
            <a:off x="4072777" y="3714381"/>
            <a:ext cx="490327" cy="701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>
            <a:off x="4081526" y="4412429"/>
            <a:ext cx="493308" cy="7542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4072777" y="4412429"/>
            <a:ext cx="515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5" name="流程图: 接点 134"/>
          <p:cNvSpPr/>
          <p:nvPr/>
        </p:nvSpPr>
        <p:spPr>
          <a:xfrm>
            <a:off x="4604086" y="3400443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流程图: 接点 135"/>
          <p:cNvSpPr/>
          <p:nvPr/>
        </p:nvSpPr>
        <p:spPr>
          <a:xfrm>
            <a:off x="4604781" y="4184553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流程图: 接点 136"/>
          <p:cNvSpPr/>
          <p:nvPr/>
        </p:nvSpPr>
        <p:spPr>
          <a:xfrm>
            <a:off x="4588091" y="5072894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5172918" y="3661581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/>
          <p:nvPr/>
        </p:nvCxnSpPr>
        <p:spPr>
          <a:xfrm flipV="1">
            <a:off x="5137937" y="4407257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/>
        </p:nvCxnSpPr>
        <p:spPr>
          <a:xfrm flipV="1">
            <a:off x="5139282" y="5258925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流程图: 资料带 142"/>
          <p:cNvSpPr/>
          <p:nvPr/>
        </p:nvSpPr>
        <p:spPr>
          <a:xfrm>
            <a:off x="5896846" y="3324355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流程图: 资料带 143"/>
          <p:cNvSpPr/>
          <p:nvPr/>
        </p:nvSpPr>
        <p:spPr>
          <a:xfrm>
            <a:off x="6032469" y="3402151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流程图: 资料带 144"/>
          <p:cNvSpPr/>
          <p:nvPr/>
        </p:nvSpPr>
        <p:spPr>
          <a:xfrm>
            <a:off x="6195557" y="3459423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From T3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流程图: 资料带 145"/>
          <p:cNvSpPr/>
          <p:nvPr/>
        </p:nvSpPr>
        <p:spPr>
          <a:xfrm>
            <a:off x="5909360" y="4159891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流程图: 资料带 146"/>
          <p:cNvSpPr/>
          <p:nvPr/>
        </p:nvSpPr>
        <p:spPr>
          <a:xfrm>
            <a:off x="6044983" y="4237687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流程图: 资料带 147"/>
          <p:cNvSpPr/>
          <p:nvPr/>
        </p:nvSpPr>
        <p:spPr>
          <a:xfrm>
            <a:off x="6208071" y="4294959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actor From T4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269979" y="3145553"/>
            <a:ext cx="1359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Trust Branches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流程图: 资料带 153"/>
          <p:cNvSpPr/>
          <p:nvPr/>
        </p:nvSpPr>
        <p:spPr>
          <a:xfrm>
            <a:off x="5924214" y="5048983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流程图: 资料带 154"/>
          <p:cNvSpPr/>
          <p:nvPr/>
        </p:nvSpPr>
        <p:spPr>
          <a:xfrm>
            <a:off x="6059837" y="5126779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流程图: 资料带 155"/>
          <p:cNvSpPr/>
          <p:nvPr/>
        </p:nvSpPr>
        <p:spPr>
          <a:xfrm>
            <a:off x="6222925" y="5184051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actor From T5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196" y="3697705"/>
            <a:ext cx="313054" cy="313054"/>
          </a:xfrm>
          <a:prstGeom prst="rect">
            <a:avLst/>
          </a:prstGeom>
        </p:spPr>
      </p:pic>
      <p:sp>
        <p:nvSpPr>
          <p:cNvPr id="158" name="文本框 157"/>
          <p:cNvSpPr txBox="1"/>
          <p:nvPr/>
        </p:nvSpPr>
        <p:spPr>
          <a:xfrm>
            <a:off x="5163652" y="3979658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196" y="4444717"/>
            <a:ext cx="313054" cy="313054"/>
          </a:xfrm>
          <a:prstGeom prst="rect">
            <a:avLst/>
          </a:prstGeom>
        </p:spPr>
      </p:pic>
      <p:sp>
        <p:nvSpPr>
          <p:cNvPr id="160" name="文本框 159"/>
          <p:cNvSpPr txBox="1"/>
          <p:nvPr/>
        </p:nvSpPr>
        <p:spPr>
          <a:xfrm>
            <a:off x="5163652" y="4720162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019" y="5307769"/>
            <a:ext cx="313054" cy="313054"/>
          </a:xfrm>
          <a:prstGeom prst="rect">
            <a:avLst/>
          </a:prstGeom>
        </p:spPr>
      </p:pic>
      <p:sp>
        <p:nvSpPr>
          <p:cNvPr id="162" name="文本框 161"/>
          <p:cNvSpPr txBox="1"/>
          <p:nvPr/>
        </p:nvSpPr>
        <p:spPr>
          <a:xfrm>
            <a:off x="5163941" y="5573883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7799531" y="-58828"/>
            <a:ext cx="445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RL-based Multi-agent for Trust evaluation and Trust incentives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" name="直接箭头连接符 163"/>
          <p:cNvCxnSpPr>
            <a:stCxn id="103" idx="3"/>
          </p:cNvCxnSpPr>
          <p:nvPr/>
        </p:nvCxnSpPr>
        <p:spPr>
          <a:xfrm>
            <a:off x="7222637" y="1222593"/>
            <a:ext cx="514406" cy="147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116" idx="3"/>
          </p:cNvCxnSpPr>
          <p:nvPr/>
        </p:nvCxnSpPr>
        <p:spPr>
          <a:xfrm>
            <a:off x="7222637" y="2389794"/>
            <a:ext cx="327917" cy="4235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V="1">
            <a:off x="7213727" y="3422552"/>
            <a:ext cx="263204" cy="3543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stCxn id="148" idx="3"/>
          </p:cNvCxnSpPr>
          <p:nvPr/>
        </p:nvCxnSpPr>
        <p:spPr>
          <a:xfrm flipV="1">
            <a:off x="7222637" y="3979658"/>
            <a:ext cx="260514" cy="6247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156" idx="3"/>
          </p:cNvCxnSpPr>
          <p:nvPr/>
        </p:nvCxnSpPr>
        <p:spPr>
          <a:xfrm flipV="1">
            <a:off x="7237491" y="4078379"/>
            <a:ext cx="475815" cy="14151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9" name="矩形 188"/>
          <p:cNvSpPr/>
          <p:nvPr/>
        </p:nvSpPr>
        <p:spPr>
          <a:xfrm>
            <a:off x="7434571" y="3506392"/>
            <a:ext cx="1014566" cy="433383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Decision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5" name="直接连接符 194"/>
          <p:cNvCxnSpPr/>
          <p:nvPr/>
        </p:nvCxnSpPr>
        <p:spPr>
          <a:xfrm>
            <a:off x="3366033" y="4415421"/>
            <a:ext cx="7464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>
            <a:off x="8365746" y="3073280"/>
            <a:ext cx="956054" cy="0"/>
          </a:xfrm>
          <a:prstGeom prst="straightConnector1">
            <a:avLst/>
          </a:prstGeom>
          <a:ln w="34925" cmpd="sng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1" name="图片 2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8206" y="926838"/>
            <a:ext cx="421424" cy="421424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22" name="矩形 221"/>
          <p:cNvSpPr/>
          <p:nvPr/>
        </p:nvSpPr>
        <p:spPr>
          <a:xfrm>
            <a:off x="9796678" y="1395409"/>
            <a:ext cx="802148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9824473" y="2381395"/>
            <a:ext cx="802148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4" name="图片 2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0526" y="1936015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225" name="图片 2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4800" y="2825688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26" name="矩形 225"/>
          <p:cNvSpPr/>
          <p:nvPr/>
        </p:nvSpPr>
        <p:spPr>
          <a:xfrm>
            <a:off x="9826871" y="3273759"/>
            <a:ext cx="754762" cy="30956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7" name="图片 2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9235" y="3749204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30" name="矩形 229"/>
          <p:cNvSpPr/>
          <p:nvPr/>
        </p:nvSpPr>
        <p:spPr>
          <a:xfrm>
            <a:off x="9803586" y="4243677"/>
            <a:ext cx="754762" cy="30956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1" name="图片 2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4089" y="4769564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32" name="矩形 231"/>
          <p:cNvSpPr/>
          <p:nvPr/>
        </p:nvSpPr>
        <p:spPr>
          <a:xfrm>
            <a:off x="9804682" y="5257550"/>
            <a:ext cx="754762" cy="30956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7" name="直接箭头连接符 236"/>
          <p:cNvCxnSpPr/>
          <p:nvPr/>
        </p:nvCxnSpPr>
        <p:spPr>
          <a:xfrm>
            <a:off x="10528045" y="1087525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图形 3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00678" y="833846"/>
            <a:ext cx="430303" cy="4303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813562" y="1262521"/>
            <a:ext cx="986081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形 5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00678" y="1807892"/>
            <a:ext cx="430303" cy="430303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10530786" y="2082823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0535732" y="2947887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图形 11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13645" y="2715250"/>
            <a:ext cx="430303" cy="430303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10523383" y="3854232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图形 15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36346" y="3619821"/>
            <a:ext cx="430303" cy="430303"/>
          </a:xfrm>
          <a:prstGeom prst="rect">
            <a:avLst/>
          </a:prstGeom>
        </p:spPr>
      </p:pic>
      <p:pic>
        <p:nvPicPr>
          <p:cNvPr id="18" name="图形 17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58061" y="4609745"/>
            <a:ext cx="430303" cy="430303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/>
        </p:nvCxnSpPr>
        <p:spPr>
          <a:xfrm>
            <a:off x="10539689" y="4913915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右大括号 20"/>
          <p:cNvSpPr/>
          <p:nvPr/>
        </p:nvSpPr>
        <p:spPr>
          <a:xfrm rot="10800000">
            <a:off x="9580472" y="1147571"/>
            <a:ext cx="192141" cy="396145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/>
          <p:cNvSpPr/>
          <p:nvPr/>
        </p:nvSpPr>
        <p:spPr>
          <a:xfrm>
            <a:off x="8597853" y="3503218"/>
            <a:ext cx="445713" cy="53136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形 27" descr="条形图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44175" y="3983330"/>
            <a:ext cx="1275595" cy="1275595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8138662" y="5279319"/>
            <a:ext cx="1437897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Trust Score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820300" y="2238468"/>
            <a:ext cx="999865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0798623" y="3139920"/>
            <a:ext cx="996040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798623" y="4043377"/>
            <a:ext cx="996040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822025" y="5023466"/>
            <a:ext cx="996040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箭头: 上弧形 57"/>
          <p:cNvSpPr/>
          <p:nvPr/>
        </p:nvSpPr>
        <p:spPr>
          <a:xfrm rot="10800000">
            <a:off x="2237781" y="6020895"/>
            <a:ext cx="6734143" cy="548285"/>
          </a:xfrm>
          <a:prstGeom prst="curvedDownArrow">
            <a:avLst>
              <a:gd name="adj1" fmla="val 13450"/>
              <a:gd name="adj2" fmla="val 50000"/>
              <a:gd name="adj3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280259" y="6165277"/>
            <a:ext cx="173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Status Update 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8369425" y="3345804"/>
            <a:ext cx="866015" cy="0"/>
          </a:xfrm>
          <a:prstGeom prst="straightConnector1">
            <a:avLst/>
          </a:prstGeom>
          <a:ln w="34925" cmpd="sng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7870897" y="501388"/>
            <a:ext cx="4158937" cy="632038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5593" y="537611"/>
            <a:ext cx="4064561" cy="6314871"/>
          </a:xfrm>
          <a:prstGeom prst="rect">
            <a:avLst/>
          </a:prstGeom>
          <a:solidFill>
            <a:srgbClr val="FBEDE1"/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4087781" y="537612"/>
            <a:ext cx="3793475" cy="6320388"/>
          </a:xfrm>
          <a:prstGeom prst="rect">
            <a:avLst/>
          </a:prstGeom>
          <a:solidFill>
            <a:srgbClr val="E6F1F5"/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/>
          <p:cNvCxnSpPr/>
          <p:nvPr/>
        </p:nvCxnSpPr>
        <p:spPr>
          <a:xfrm flipH="1">
            <a:off x="45593" y="3134916"/>
            <a:ext cx="7714324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7890548" y="510922"/>
            <a:ext cx="0" cy="6395325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36" y="991513"/>
            <a:ext cx="442495" cy="44249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 flipV="1">
            <a:off x="4080342" y="510922"/>
            <a:ext cx="32165" cy="6347078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06" y="1398882"/>
            <a:ext cx="658712" cy="65871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44394">
            <a:off x="435871" y="1199724"/>
            <a:ext cx="468565" cy="46856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77" y="2168546"/>
            <a:ext cx="442495" cy="44249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92081">
            <a:off x="451919" y="1824410"/>
            <a:ext cx="485300" cy="4853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00129">
            <a:off x="1433770" y="1221847"/>
            <a:ext cx="468565" cy="46856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00502">
            <a:off x="1389087" y="1808479"/>
            <a:ext cx="468565" cy="46856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057" y="946924"/>
            <a:ext cx="442495" cy="44249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91" y="2217417"/>
            <a:ext cx="344626" cy="344626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1290646" y="156287"/>
            <a:ext cx="166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UAV Network 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488318" y="2512573"/>
            <a:ext cx="941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Anomalies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45593" y="537612"/>
            <a:ext cx="119928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315059" y="676816"/>
            <a:ext cx="1622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UAV Swarm Access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等腰三角形 51"/>
          <p:cNvSpPr/>
          <p:nvPr/>
        </p:nvSpPr>
        <p:spPr>
          <a:xfrm rot="5400000">
            <a:off x="2164469" y="1529441"/>
            <a:ext cx="505104" cy="358480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041" y="1424497"/>
            <a:ext cx="583878" cy="583878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56" name="文本框 55"/>
          <p:cNvSpPr txBox="1"/>
          <p:nvPr/>
        </p:nvSpPr>
        <p:spPr>
          <a:xfrm>
            <a:off x="2348011" y="2104396"/>
            <a:ext cx="1834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Summarization Agent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 flipV="1">
            <a:off x="4096601" y="1441505"/>
            <a:ext cx="437627" cy="2749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4096424" y="1716436"/>
            <a:ext cx="437982" cy="252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流程图: 接点 76"/>
          <p:cNvSpPr/>
          <p:nvPr/>
        </p:nvSpPr>
        <p:spPr>
          <a:xfrm>
            <a:off x="4604086" y="1030937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直接连接符 80"/>
          <p:cNvCxnSpPr>
            <a:stCxn id="55" idx="3"/>
          </p:cNvCxnSpPr>
          <p:nvPr/>
        </p:nvCxnSpPr>
        <p:spPr>
          <a:xfrm>
            <a:off x="3378919" y="1716436"/>
            <a:ext cx="7464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V="1">
            <a:off x="5180994" y="1205984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V="1">
            <a:off x="5180995" y="2214877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4388582" y="-47336"/>
            <a:ext cx="3191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Multi-factor Trust Evaluation Mechanism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流程图: 接点 87"/>
          <p:cNvSpPr/>
          <p:nvPr/>
        </p:nvSpPr>
        <p:spPr>
          <a:xfrm>
            <a:off x="4588091" y="1999317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269979" y="709277"/>
            <a:ext cx="1359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Trust Branches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1" name="图形 90" descr="计算机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950" y="3561217"/>
            <a:ext cx="914400" cy="914400"/>
          </a:xfrm>
          <a:prstGeom prst="rect">
            <a:avLst/>
          </a:prstGeom>
        </p:spPr>
      </p:pic>
      <p:pic>
        <p:nvPicPr>
          <p:cNvPr id="93" name="图形 92" descr="数据库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137" y="4497686"/>
            <a:ext cx="914400" cy="914400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981" y="1252239"/>
            <a:ext cx="313054" cy="313054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521" y="2262834"/>
            <a:ext cx="313054" cy="313054"/>
          </a:xfrm>
          <a:prstGeom prst="rect">
            <a:avLst/>
          </a:prstGeom>
        </p:spPr>
      </p:pic>
      <p:sp>
        <p:nvSpPr>
          <p:cNvPr id="97" name="文本框 96"/>
          <p:cNvSpPr txBox="1"/>
          <p:nvPr/>
        </p:nvSpPr>
        <p:spPr>
          <a:xfrm>
            <a:off x="5177826" y="1532071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187977" y="2544787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流程图: 资料带 98"/>
          <p:cNvSpPr/>
          <p:nvPr/>
        </p:nvSpPr>
        <p:spPr>
          <a:xfrm>
            <a:off x="5909360" y="778047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流程图: 资料带 101"/>
          <p:cNvSpPr/>
          <p:nvPr/>
        </p:nvSpPr>
        <p:spPr>
          <a:xfrm>
            <a:off x="6044983" y="855843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流程图: 资料带 102"/>
          <p:cNvSpPr/>
          <p:nvPr/>
        </p:nvSpPr>
        <p:spPr>
          <a:xfrm>
            <a:off x="6208071" y="913115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Multi-factor From T1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1387" y="2821273"/>
            <a:ext cx="579170" cy="57917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14" name="流程图: 资料带 113"/>
          <p:cNvSpPr/>
          <p:nvPr/>
        </p:nvSpPr>
        <p:spPr>
          <a:xfrm>
            <a:off x="5909360" y="1945248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流程图: 资料带 114"/>
          <p:cNvSpPr/>
          <p:nvPr/>
        </p:nvSpPr>
        <p:spPr>
          <a:xfrm>
            <a:off x="6044983" y="2023044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8" name="图形 117" descr="研究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6131" y="4554837"/>
            <a:ext cx="796421" cy="796421"/>
          </a:xfrm>
          <a:prstGeom prst="rect">
            <a:avLst/>
          </a:prstGeom>
        </p:spPr>
      </p:pic>
      <p:sp>
        <p:nvSpPr>
          <p:cNvPr id="119" name="文本框 118"/>
          <p:cNvSpPr txBox="1"/>
          <p:nvPr/>
        </p:nvSpPr>
        <p:spPr>
          <a:xfrm>
            <a:off x="100971" y="3316618"/>
            <a:ext cx="2379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Inter-ground Control Access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等腰三角形 119"/>
          <p:cNvSpPr/>
          <p:nvPr/>
        </p:nvSpPr>
        <p:spPr>
          <a:xfrm rot="5400000">
            <a:off x="2164469" y="4237026"/>
            <a:ext cx="505104" cy="358480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041" y="4124327"/>
            <a:ext cx="583878" cy="583878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2" name="文本框 121"/>
          <p:cNvSpPr txBox="1"/>
          <p:nvPr/>
        </p:nvSpPr>
        <p:spPr>
          <a:xfrm>
            <a:off x="2344951" y="4814977"/>
            <a:ext cx="1834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Summarization Agent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62166" y="5341923"/>
            <a:ext cx="941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405732" y="5341922"/>
            <a:ext cx="664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5" name="直接箭头连接符 124"/>
          <p:cNvCxnSpPr/>
          <p:nvPr/>
        </p:nvCxnSpPr>
        <p:spPr>
          <a:xfrm flipV="1">
            <a:off x="4072777" y="3714381"/>
            <a:ext cx="490327" cy="701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>
            <a:off x="4081526" y="4412429"/>
            <a:ext cx="493308" cy="7542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4072777" y="4412429"/>
            <a:ext cx="515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5" name="流程图: 接点 134"/>
          <p:cNvSpPr/>
          <p:nvPr/>
        </p:nvSpPr>
        <p:spPr>
          <a:xfrm>
            <a:off x="4604086" y="3400443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流程图: 接点 135"/>
          <p:cNvSpPr/>
          <p:nvPr/>
        </p:nvSpPr>
        <p:spPr>
          <a:xfrm>
            <a:off x="4604781" y="4184553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流程图: 接点 136"/>
          <p:cNvSpPr/>
          <p:nvPr/>
        </p:nvSpPr>
        <p:spPr>
          <a:xfrm>
            <a:off x="4588091" y="5072894"/>
            <a:ext cx="491479" cy="425192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5172918" y="3661581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/>
          <p:nvPr/>
        </p:nvCxnSpPr>
        <p:spPr>
          <a:xfrm flipV="1">
            <a:off x="5137937" y="4407257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/>
        </p:nvCxnSpPr>
        <p:spPr>
          <a:xfrm flipV="1">
            <a:off x="5139282" y="5258925"/>
            <a:ext cx="580695" cy="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流程图: 资料带 142"/>
          <p:cNvSpPr/>
          <p:nvPr/>
        </p:nvSpPr>
        <p:spPr>
          <a:xfrm>
            <a:off x="5896846" y="3324355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流程图: 资料带 143"/>
          <p:cNvSpPr/>
          <p:nvPr/>
        </p:nvSpPr>
        <p:spPr>
          <a:xfrm>
            <a:off x="6032469" y="3402151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流程图: 资料带 144"/>
          <p:cNvSpPr/>
          <p:nvPr/>
        </p:nvSpPr>
        <p:spPr>
          <a:xfrm>
            <a:off x="6198732" y="2111318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Multi-factor From T2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流程图: 资料带 145"/>
          <p:cNvSpPr/>
          <p:nvPr/>
        </p:nvSpPr>
        <p:spPr>
          <a:xfrm>
            <a:off x="5909360" y="4159891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流程图: 资料带 146"/>
          <p:cNvSpPr/>
          <p:nvPr/>
        </p:nvSpPr>
        <p:spPr>
          <a:xfrm>
            <a:off x="6044983" y="4237687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流程图: 资料带 147"/>
          <p:cNvSpPr/>
          <p:nvPr/>
        </p:nvSpPr>
        <p:spPr>
          <a:xfrm>
            <a:off x="6208071" y="4294959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Multi-factor From T4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269979" y="3145553"/>
            <a:ext cx="1359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Trust Branches</a:t>
            </a:r>
            <a:endParaRPr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流程图: 资料带 153"/>
          <p:cNvSpPr/>
          <p:nvPr/>
        </p:nvSpPr>
        <p:spPr>
          <a:xfrm>
            <a:off x="5924214" y="5048983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流程图: 资料带 154"/>
          <p:cNvSpPr/>
          <p:nvPr/>
        </p:nvSpPr>
        <p:spPr>
          <a:xfrm>
            <a:off x="6059837" y="5126779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流程图: 资料带 155"/>
          <p:cNvSpPr/>
          <p:nvPr/>
        </p:nvSpPr>
        <p:spPr>
          <a:xfrm>
            <a:off x="6222925" y="5184051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Multi-factor From T5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196" y="3697705"/>
            <a:ext cx="313054" cy="313054"/>
          </a:xfrm>
          <a:prstGeom prst="rect">
            <a:avLst/>
          </a:prstGeom>
        </p:spPr>
      </p:pic>
      <p:sp>
        <p:nvSpPr>
          <p:cNvPr id="158" name="文本框 157"/>
          <p:cNvSpPr txBox="1"/>
          <p:nvPr/>
        </p:nvSpPr>
        <p:spPr>
          <a:xfrm>
            <a:off x="5163652" y="3979658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196" y="4444717"/>
            <a:ext cx="313054" cy="313054"/>
          </a:xfrm>
          <a:prstGeom prst="rect">
            <a:avLst/>
          </a:prstGeom>
        </p:spPr>
      </p:pic>
      <p:sp>
        <p:nvSpPr>
          <p:cNvPr id="160" name="文本框 159"/>
          <p:cNvSpPr txBox="1"/>
          <p:nvPr/>
        </p:nvSpPr>
        <p:spPr>
          <a:xfrm>
            <a:off x="5163652" y="4720162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019" y="5307769"/>
            <a:ext cx="313054" cy="313054"/>
          </a:xfrm>
          <a:prstGeom prst="rect">
            <a:avLst/>
          </a:prstGeom>
        </p:spPr>
      </p:pic>
      <p:sp>
        <p:nvSpPr>
          <p:cNvPr id="162" name="文本框 161"/>
          <p:cNvSpPr txBox="1"/>
          <p:nvPr/>
        </p:nvSpPr>
        <p:spPr>
          <a:xfrm>
            <a:off x="5163941" y="5573883"/>
            <a:ext cx="537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7799531" y="-58828"/>
            <a:ext cx="445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RL-based Multi-agent for Trust evaluation and Trust incentives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" name="直接箭头连接符 163"/>
          <p:cNvCxnSpPr>
            <a:stCxn id="103" idx="3"/>
          </p:cNvCxnSpPr>
          <p:nvPr/>
        </p:nvCxnSpPr>
        <p:spPr>
          <a:xfrm>
            <a:off x="7222637" y="1222593"/>
            <a:ext cx="514406" cy="147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116" idx="3"/>
          </p:cNvCxnSpPr>
          <p:nvPr/>
        </p:nvCxnSpPr>
        <p:spPr>
          <a:xfrm>
            <a:off x="7222637" y="2414559"/>
            <a:ext cx="327917" cy="4235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V="1">
            <a:off x="7213727" y="3351497"/>
            <a:ext cx="232037" cy="425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stCxn id="148" idx="3"/>
          </p:cNvCxnSpPr>
          <p:nvPr/>
        </p:nvCxnSpPr>
        <p:spPr>
          <a:xfrm flipV="1">
            <a:off x="7222637" y="3876922"/>
            <a:ext cx="257203" cy="727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156" idx="3"/>
          </p:cNvCxnSpPr>
          <p:nvPr/>
        </p:nvCxnSpPr>
        <p:spPr>
          <a:xfrm flipV="1">
            <a:off x="7237491" y="3958416"/>
            <a:ext cx="411262" cy="15351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9" name="矩形 188"/>
          <p:cNvSpPr/>
          <p:nvPr/>
        </p:nvSpPr>
        <p:spPr>
          <a:xfrm>
            <a:off x="7469898" y="3392249"/>
            <a:ext cx="802148" cy="433383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5" name="直接连接符 194"/>
          <p:cNvCxnSpPr/>
          <p:nvPr/>
        </p:nvCxnSpPr>
        <p:spPr>
          <a:xfrm>
            <a:off x="3366033" y="4415421"/>
            <a:ext cx="7464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V="1">
            <a:off x="8118910" y="1172451"/>
            <a:ext cx="880439" cy="15596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V="1">
            <a:off x="8244885" y="2332522"/>
            <a:ext cx="703145" cy="540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8235435" y="3091393"/>
            <a:ext cx="7133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>
            <a:off x="8208048" y="3284052"/>
            <a:ext cx="739982" cy="5415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/>
          <p:nvPr/>
        </p:nvCxnSpPr>
        <p:spPr>
          <a:xfrm>
            <a:off x="8198377" y="3535640"/>
            <a:ext cx="803804" cy="14448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1" name="图片 2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9365" y="920848"/>
            <a:ext cx="421424" cy="421424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22" name="矩形 221"/>
          <p:cNvSpPr/>
          <p:nvPr/>
        </p:nvSpPr>
        <p:spPr>
          <a:xfrm>
            <a:off x="8917837" y="1389419"/>
            <a:ext cx="802148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8945632" y="2375405"/>
            <a:ext cx="802148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4" name="图片 2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1685" y="1930025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225" name="图片 2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5959" y="2819698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26" name="矩形 225"/>
          <p:cNvSpPr/>
          <p:nvPr/>
        </p:nvSpPr>
        <p:spPr>
          <a:xfrm>
            <a:off x="8948030" y="3267769"/>
            <a:ext cx="754762" cy="30956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7" name="图片 2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0394" y="3743214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30" name="矩形 229"/>
          <p:cNvSpPr/>
          <p:nvPr/>
        </p:nvSpPr>
        <p:spPr>
          <a:xfrm>
            <a:off x="8924745" y="4237687"/>
            <a:ext cx="754762" cy="30956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1" name="图片 2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5248" y="4763574"/>
            <a:ext cx="418046" cy="41804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32" name="矩形 231"/>
          <p:cNvSpPr/>
          <p:nvPr/>
        </p:nvSpPr>
        <p:spPr>
          <a:xfrm>
            <a:off x="8925841" y="5251560"/>
            <a:ext cx="754762" cy="309565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Thinker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7" name="直接箭头连接符 236"/>
          <p:cNvCxnSpPr/>
          <p:nvPr/>
        </p:nvCxnSpPr>
        <p:spPr>
          <a:xfrm>
            <a:off x="9623908" y="1150396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图形 3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92323" y="903026"/>
            <a:ext cx="430303" cy="4303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747780" y="1348818"/>
            <a:ext cx="986081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形 5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92323" y="1901540"/>
            <a:ext cx="430303" cy="430303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9597104" y="2168546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9570300" y="3069927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图形 11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56757" y="2789572"/>
            <a:ext cx="430303" cy="430303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9538901" y="3985503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图形 15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79809" y="3711629"/>
            <a:ext cx="430303" cy="430303"/>
          </a:xfrm>
          <a:prstGeom prst="rect">
            <a:avLst/>
          </a:prstGeom>
        </p:spPr>
      </p:pic>
      <p:pic>
        <p:nvPicPr>
          <p:cNvPr id="18" name="图形 17" descr="条形图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63424" y="4758078"/>
            <a:ext cx="430303" cy="430303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/>
        </p:nvCxnSpPr>
        <p:spPr>
          <a:xfrm>
            <a:off x="9548857" y="5010949"/>
            <a:ext cx="3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右大括号 20"/>
          <p:cNvSpPr/>
          <p:nvPr/>
        </p:nvSpPr>
        <p:spPr>
          <a:xfrm>
            <a:off x="10657288" y="1197613"/>
            <a:ext cx="192141" cy="396145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6845" y="2792915"/>
            <a:ext cx="579170" cy="57917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6" name="矩形 25"/>
          <p:cNvSpPr/>
          <p:nvPr/>
        </p:nvSpPr>
        <p:spPr>
          <a:xfrm>
            <a:off x="10792911" y="3286865"/>
            <a:ext cx="1020769" cy="670322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Inferential Conclusion  Agent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箭头: 下 26"/>
          <p:cNvSpPr/>
          <p:nvPr/>
        </p:nvSpPr>
        <p:spPr>
          <a:xfrm>
            <a:off x="11064699" y="3972004"/>
            <a:ext cx="445713" cy="53136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0591937" y="5608697"/>
            <a:ext cx="1437897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Trust Score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707542" y="2310652"/>
            <a:ext cx="999865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696941" y="3182105"/>
            <a:ext cx="996040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696398" y="4122467"/>
            <a:ext cx="996040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711252" y="5185263"/>
            <a:ext cx="996040" cy="388620"/>
          </a:xfrm>
          <a:prstGeom prst="rect">
            <a:avLst/>
          </a:prstGeom>
          <a:solidFill>
            <a:srgbClr val="E6F1F5"/>
          </a:solidFill>
          <a:ln>
            <a:noFill/>
          </a:ln>
          <a:effectLst>
            <a:outerShdw blurRad="50800" dist="50800" dir="5400000" algn="ctr" rotWithShape="0">
              <a:srgbClr val="E6F1F5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Score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b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Incentive Policy</a:t>
            </a:r>
            <a:endParaRPr lang="zh-CN" alt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箭头: 上弧形 57"/>
          <p:cNvSpPr/>
          <p:nvPr/>
        </p:nvSpPr>
        <p:spPr>
          <a:xfrm rot="10800000">
            <a:off x="2173636" y="6148723"/>
            <a:ext cx="9153190" cy="548285"/>
          </a:xfrm>
          <a:prstGeom prst="curvedDownArrow">
            <a:avLst>
              <a:gd name="adj1" fmla="val 13450"/>
              <a:gd name="adj2" fmla="val 50000"/>
              <a:gd name="adj3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076945" y="6304003"/>
            <a:ext cx="173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Status Update 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图形 27" descr="条形图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92438" y="4416690"/>
            <a:ext cx="1275595" cy="1275595"/>
          </a:xfrm>
          <a:prstGeom prst="rect">
            <a:avLst/>
          </a:prstGeom>
        </p:spPr>
      </p:pic>
      <p:sp>
        <p:nvSpPr>
          <p:cNvPr id="2" name="流程图: 资料带 1"/>
          <p:cNvSpPr/>
          <p:nvPr/>
        </p:nvSpPr>
        <p:spPr>
          <a:xfrm>
            <a:off x="6198732" y="3460693"/>
            <a:ext cx="1014566" cy="618956"/>
          </a:xfrm>
          <a:prstGeom prst="flowChartPunchedTape">
            <a:avLst/>
          </a:prstGeom>
          <a:solidFill>
            <a:srgbClr val="FFFF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Multi-factor From T3</a:t>
            </a:r>
            <a:endParaRPr lang="en-US" altLang="zh-CN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WPS 演示</Application>
  <PresentationFormat>宽屏</PresentationFormat>
  <Paragraphs>165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ioranger</dc:creator>
  <cp:lastModifiedBy>Innocence</cp:lastModifiedBy>
  <cp:revision>9</cp:revision>
  <dcterms:created xsi:type="dcterms:W3CDTF">2026-01-23T12:25:00Z</dcterms:created>
  <dcterms:modified xsi:type="dcterms:W3CDTF">2026-10-11T10:32:33Z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90F33B052737446F88B876DEF0327681_12</vt:lpwstr>
  </property>
</Properties>
</file>