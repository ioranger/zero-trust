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CA95"/>
    <a:srgbClr val="BEE2E4"/>
    <a:srgbClr val="C2E3E5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778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20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幻灯片图像占位符 1"/>
          <p:cNvSpPr>
            <a:spLocks noGrp="1" noRot="1"/>
          </p:cNvSpPr>
          <p:nvPr>
            <p:ph type="sldImg"/>
          </p:nvPr>
        </p:nvSpPr>
        <p:spPr>
          <a:ln/>
        </p:spPr>
      </p:sp>
      <p:sp>
        <p:nvSpPr>
          <p:cNvPr id="409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F0F1">
                <a:alpha val="100000"/>
              </a:srgbClr>
            </a:gs>
            <a:gs pos="50000">
              <a:srgbClr val="CCE8EA">
                <a:alpha val="100000"/>
              </a:srgbClr>
            </a:gs>
            <a:gs pos="100000">
              <a:srgbClr val="BAE0E2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tags" Target="../tags/tag7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6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2.sv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8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F0F1">
                <a:alpha val="100000"/>
              </a:srgbClr>
            </a:gs>
            <a:gs pos="50000">
              <a:srgbClr val="C2E3E5">
                <a:alpha val="100000"/>
              </a:srgbClr>
            </a:gs>
            <a:gs pos="100000">
              <a:srgbClr val="BAE0E2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 useBgFill="1">
        <p:nvSpPr>
          <p:cNvPr id="39" name="矩形 38"/>
          <p:cNvSpPr/>
          <p:nvPr/>
        </p:nvSpPr>
        <p:spPr>
          <a:xfrm>
            <a:off x="10097453" y="270828"/>
            <a:ext cx="1808163" cy="37893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pic>
        <p:nvPicPr>
          <p:cNvPr id="4" name="图片 3" descr="32303139393333373b32303230313933353b4e097ef46a21578b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9925" y="1642744"/>
            <a:ext cx="914400" cy="91440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300990" y="1837690"/>
            <a:ext cx="1752600" cy="579438"/>
          </a:xfrm>
          <a:prstGeom prst="roundRect">
            <a:avLst/>
          </a:prstGeom>
          <a:gradFill>
            <a:gsLst>
              <a:gs pos="42000">
                <a:srgbClr val="ABD9CA"/>
              </a:gs>
              <a:gs pos="0">
                <a:srgbClr val="C4E4DB"/>
              </a:gs>
              <a:gs pos="100000">
                <a:srgbClr val="91CEB9"/>
              </a:gs>
            </a:gsLst>
            <a:lin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 fontAlgn="auto"/>
            <a:r>
              <a:rPr lang="en-US" altLang="zh-CN" strike="noStrike" noProof="1"/>
              <a:t>prompt:{score}</a:t>
            </a:r>
            <a:endParaRPr lang="en-US" altLang="zh-CN" strike="noStrike" noProof="1"/>
          </a:p>
        </p:txBody>
      </p:sp>
      <p:sp>
        <p:nvSpPr>
          <p:cNvPr id="3077" name="文本框 11"/>
          <p:cNvSpPr txBox="1"/>
          <p:nvPr/>
        </p:nvSpPr>
        <p:spPr>
          <a:xfrm>
            <a:off x="2950528" y="2666365"/>
            <a:ext cx="1590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Actor Model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3" name="直接箭头连接符 12"/>
          <p:cNvCxnSpPr/>
          <p:nvPr>
            <p:custDataLst>
              <p:tags r:id="rId3"/>
            </p:custDataLst>
          </p:nvPr>
        </p:nvCxnSpPr>
        <p:spPr>
          <a:xfrm flipV="1">
            <a:off x="4149090" y="2074228"/>
            <a:ext cx="860425" cy="1905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片 13" descr="32303236333539373b32303236353138313b539f578b6a21578b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4365" y="296545"/>
            <a:ext cx="756920" cy="756920"/>
          </a:xfrm>
          <a:prstGeom prst="rect">
            <a:avLst/>
          </a:prstGeom>
        </p:spPr>
      </p:pic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5217478" y="1837690"/>
            <a:ext cx="2244725" cy="579438"/>
          </a:xfrm>
          <a:prstGeom prst="roundRect">
            <a:avLst/>
          </a:prstGeom>
          <a:gradFill>
            <a:gsLst>
              <a:gs pos="42000">
                <a:srgbClr val="ABD9CA"/>
              </a:gs>
              <a:gs pos="0">
                <a:srgbClr val="C4E4DB"/>
              </a:gs>
              <a:gs pos="100000">
                <a:srgbClr val="91CEB9"/>
              </a:gs>
            </a:gsLst>
            <a:lin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 fontAlgn="auto"/>
            <a:r>
              <a:rPr lang="en-US" altLang="zh-CN" strike="noStrike" noProof="1"/>
              <a:t>prompt + response</a:t>
            </a:r>
            <a:endParaRPr lang="en-US" altLang="zh-CN" strike="noStrike" noProof="1"/>
          </a:p>
        </p:txBody>
      </p:sp>
      <p:sp>
        <p:nvSpPr>
          <p:cNvPr id="16" name="左大括号 15"/>
          <p:cNvSpPr/>
          <p:nvPr/>
        </p:nvSpPr>
        <p:spPr>
          <a:xfrm>
            <a:off x="7670165" y="420053"/>
            <a:ext cx="474663" cy="3414713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 fontAlgn="auto"/>
            <a:endParaRPr lang="zh-CN" altLang="en-US" strike="noStrike" noProof="1"/>
          </a:p>
        </p:txBody>
      </p:sp>
      <p:pic>
        <p:nvPicPr>
          <p:cNvPr id="17" name="图片 16" descr="32303236333539373b32303236353138303b539f578b6a21578b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5625" y="1643380"/>
            <a:ext cx="914400" cy="914400"/>
          </a:xfrm>
          <a:prstGeom prst="rect">
            <a:avLst/>
          </a:prstGeom>
        </p:spPr>
      </p:pic>
      <p:pic>
        <p:nvPicPr>
          <p:cNvPr id="18" name="图片 17" descr="32303236333539373b32303236353137393b539f578b6a21578b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5625" y="3190240"/>
            <a:ext cx="914400" cy="914400"/>
          </a:xfrm>
          <a:prstGeom prst="rect">
            <a:avLst/>
          </a:prstGeom>
        </p:spPr>
      </p:pic>
      <p:sp>
        <p:nvSpPr>
          <p:cNvPr id="3084" name="文本框 18"/>
          <p:cNvSpPr txBox="1"/>
          <p:nvPr>
            <p:custDataLst>
              <p:tags r:id="rId11"/>
            </p:custDataLst>
          </p:nvPr>
        </p:nvSpPr>
        <p:spPr>
          <a:xfrm>
            <a:off x="8016240" y="1069340"/>
            <a:ext cx="20812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Reference Model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85" name="文本框 19"/>
          <p:cNvSpPr txBox="1"/>
          <p:nvPr>
            <p:custDataLst>
              <p:tags r:id="rId12"/>
            </p:custDataLst>
          </p:nvPr>
        </p:nvSpPr>
        <p:spPr>
          <a:xfrm>
            <a:off x="8005128" y="2558415"/>
            <a:ext cx="17240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Reward Model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086" name="文本框 20"/>
          <p:cNvSpPr txBox="1"/>
          <p:nvPr>
            <p:custDataLst>
              <p:tags r:id="rId13"/>
            </p:custDataLst>
          </p:nvPr>
        </p:nvSpPr>
        <p:spPr>
          <a:xfrm>
            <a:off x="8005128" y="4169728"/>
            <a:ext cx="1590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Critic Model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 flipH="1">
            <a:off x="11057890" y="4206240"/>
            <a:ext cx="7938" cy="19621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 flipV="1">
            <a:off x="3572828" y="6136640"/>
            <a:ext cx="7485063" cy="158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3598228" y="3198178"/>
            <a:ext cx="0" cy="29622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>
            <p:custDataLst>
              <p:tags r:id="rId15"/>
            </p:custDataLst>
          </p:nvPr>
        </p:nvCxnSpPr>
        <p:spPr>
          <a:xfrm flipV="1">
            <a:off x="9108440" y="2102803"/>
            <a:ext cx="941388" cy="952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>
            <p:custDataLst>
              <p:tags r:id="rId16"/>
            </p:custDataLst>
          </p:nvPr>
        </p:nvCxnSpPr>
        <p:spPr>
          <a:xfrm flipV="1">
            <a:off x="9108440" y="608965"/>
            <a:ext cx="941388" cy="952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>
            <p:custDataLst>
              <p:tags r:id="rId17"/>
            </p:custDataLst>
          </p:nvPr>
        </p:nvCxnSpPr>
        <p:spPr>
          <a:xfrm flipV="1">
            <a:off x="9108440" y="3636328"/>
            <a:ext cx="941388" cy="952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>
            <p:custDataLst>
              <p:tags r:id="rId18"/>
            </p:custDataLst>
          </p:nvPr>
        </p:nvCxnSpPr>
        <p:spPr>
          <a:xfrm flipV="1">
            <a:off x="2105978" y="2093278"/>
            <a:ext cx="941388" cy="952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>
            <p:custDataLst>
              <p:tags r:id="rId19"/>
            </p:custDataLst>
          </p:nvPr>
        </p:nvSpPr>
        <p:spPr>
          <a:xfrm>
            <a:off x="10189528" y="1837690"/>
            <a:ext cx="1606550" cy="579438"/>
          </a:xfrm>
          <a:prstGeom prst="roundRect">
            <a:avLst/>
          </a:prstGeom>
          <a:gradFill>
            <a:gsLst>
              <a:gs pos="42000">
                <a:srgbClr val="ABD9CA"/>
              </a:gs>
              <a:gs pos="0">
                <a:srgbClr val="C4E4DB"/>
              </a:gs>
              <a:gs pos="100000">
                <a:srgbClr val="91CEB9"/>
              </a:gs>
            </a:gsLst>
            <a:lin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 fontAlgn="auto"/>
            <a:r>
              <a:rPr lang="en-US" altLang="zh-CN" strike="noStrike" noProof="1"/>
              <a:t>reward value</a:t>
            </a:r>
            <a:endParaRPr lang="en-US" altLang="zh-CN" strike="noStrike" noProof="1"/>
          </a:p>
        </p:txBody>
      </p:sp>
      <p:sp>
        <p:nvSpPr>
          <p:cNvPr id="37" name="圆角矩形 36"/>
          <p:cNvSpPr/>
          <p:nvPr>
            <p:custDataLst>
              <p:tags r:id="rId20"/>
            </p:custDataLst>
          </p:nvPr>
        </p:nvSpPr>
        <p:spPr>
          <a:xfrm>
            <a:off x="10189528" y="367665"/>
            <a:ext cx="1606550" cy="577850"/>
          </a:xfrm>
          <a:prstGeom prst="roundRect">
            <a:avLst/>
          </a:prstGeom>
          <a:gradFill>
            <a:gsLst>
              <a:gs pos="42000">
                <a:srgbClr val="ABD9CA"/>
              </a:gs>
              <a:gs pos="0">
                <a:srgbClr val="C4E4DB"/>
              </a:gs>
              <a:gs pos="100000">
                <a:srgbClr val="91CEB9"/>
              </a:gs>
            </a:gsLst>
            <a:lin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 fontAlgn="auto"/>
            <a:r>
              <a:rPr lang="en-US" altLang="zh-CN" strike="noStrike" noProof="1"/>
              <a:t>KL</a:t>
            </a:r>
            <a:endParaRPr lang="en-US" altLang="zh-CN" strike="noStrike" noProof="1"/>
          </a:p>
        </p:txBody>
      </p:sp>
      <p:sp>
        <p:nvSpPr>
          <p:cNvPr id="38" name="圆角矩形 37"/>
          <p:cNvSpPr/>
          <p:nvPr>
            <p:custDataLst>
              <p:tags r:id="rId21"/>
            </p:custDataLst>
          </p:nvPr>
        </p:nvSpPr>
        <p:spPr>
          <a:xfrm>
            <a:off x="10189528" y="3309303"/>
            <a:ext cx="1606550" cy="577850"/>
          </a:xfrm>
          <a:prstGeom prst="roundRect">
            <a:avLst/>
          </a:prstGeom>
          <a:gradFill>
            <a:gsLst>
              <a:gs pos="42000">
                <a:srgbClr val="ABD9CA"/>
              </a:gs>
              <a:gs pos="0">
                <a:srgbClr val="C4E4DB"/>
              </a:gs>
              <a:gs pos="100000">
                <a:srgbClr val="91CEB9"/>
              </a:gs>
            </a:gsLst>
            <a:lin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 fontAlgn="auto"/>
            <a:r>
              <a:rPr lang="en-US" altLang="zh-CN" strike="noStrike" noProof="1"/>
              <a:t>state value</a:t>
            </a:r>
            <a:endParaRPr lang="en-US" altLang="zh-CN" strike="noStrike" noProof="1"/>
          </a:p>
        </p:txBody>
      </p:sp>
      <p:sp useBgFill="1">
        <p:nvSpPr>
          <p:cNvPr id="40" name="椭圆 39"/>
          <p:cNvSpPr/>
          <p:nvPr/>
        </p:nvSpPr>
        <p:spPr>
          <a:xfrm>
            <a:off x="4941253" y="5622290"/>
            <a:ext cx="1954213" cy="1060450"/>
          </a:xfrm>
          <a:prstGeom prst="ellipse">
            <a:avLst/>
          </a:prstGeom>
          <a:ln>
            <a:solidFill>
              <a:srgbClr val="56CA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r>
              <a:rPr lang="en-US" altLang="zh-CN" sz="2800" strike="noStrike" noProof="1">
                <a:solidFill>
                  <a:schemeClr val="tx1"/>
                </a:solidFill>
              </a:rPr>
              <a:t>loss</a:t>
            </a:r>
            <a:endParaRPr lang="en-US" altLang="zh-CN" sz="2800" strike="noStrike" noProof="1">
              <a:solidFill>
                <a:schemeClr val="tx1"/>
              </a:solidFill>
            </a:endParaRPr>
          </a:p>
        </p:txBody>
      </p:sp>
    </p:spTree>
    <p:custDataLst>
      <p:tags r:id="rId2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.xml><?xml version="1.0" encoding="utf-8"?>
<p:tagLst xmlns:p="http://schemas.openxmlformats.org/presentationml/2006/main">
  <p:tag name="COMMONDATA" val="eyJoZGlkIjoiOGYzOGFmNDY1NDZlNDQ3ODRlYmU1YWRjYjc1N2U5OD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WPS 演示</Application>
  <PresentationFormat>宽屏</PresentationFormat>
  <Paragraphs>20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JL Kang</cp:lastModifiedBy>
  <cp:revision>181</cp:revision>
  <dcterms:created xsi:type="dcterms:W3CDTF">2019-06-19T02:08:00Z</dcterms:created>
  <dcterms:modified xsi:type="dcterms:W3CDTF">2026-04-19T13:04:10Z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D3D43AFF41544D388A4FE542D5D1DC1E_13</vt:lpwstr>
  </property>
</Properties>
</file>